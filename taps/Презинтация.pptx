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8.xml" ContentType="application/vnd.openxmlformats-officedocument.presentationml.slide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 showSpecialPlsOnTitleSld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9144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0"/>
          <p:cNvSpPr>
            <a:spLocks noGrp="1"/>
          </p:cNvSpPr>
          <p:nvPr isPhoto="0" userDrawn="0">
            <p:ph type="ctrTitle" hasCustomPrompt="0"/>
          </p:nvPr>
        </p:nvSpPr>
        <p:spPr bwMode="auto"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 hidden="0"/>
          <p:cNvSpPr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2D5F98C0-B750-4982-8D1C-FA4D7F708B75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5</a:t>
            </a:r>
            <a:endParaRPr lang="ru-RU"/>
          </a:p>
        </p:txBody>
      </p:sp>
      <p:sp>
        <p:nvSpPr>
          <p:cNvPr id="6" name="Номер слайда 5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B3421C82-DCE2-4357-9FC9-39D15C9B1AE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 hidden="0"/>
          <p:cNvSpPr>
            <a:spLocks noGrp="1"/>
          </p:cNvSpPr>
          <p:nvPr isPhoto="0" userDrawn="0">
            <p:ph idx="1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3A27172A-143D-4218-8DC9-FE5106E6F4C9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5</a:t>
            </a:r>
            <a:endParaRPr lang="ru-RU"/>
          </a:p>
        </p:txBody>
      </p:sp>
      <p:sp>
        <p:nvSpPr>
          <p:cNvPr id="6" name="Номер слайда 5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B3421C82-DCE2-4357-9FC9-39D15C9B1AE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 hidden="0"/>
          <p:cNvSpPr>
            <a:spLocks noGrp="1"/>
          </p:cNvSpPr>
          <p:nvPr isPhoto="0" userDrawn="0">
            <p:ph type="body" idx="1" hasCustomPrompt="0"/>
          </p:nvPr>
        </p:nvSpPr>
        <p:spPr bwMode="auto"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A688F657-68E2-484D-A744-248F2FA558B8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5</a:t>
            </a:r>
            <a:endParaRPr lang="ru-RU"/>
          </a:p>
        </p:txBody>
      </p:sp>
      <p:sp>
        <p:nvSpPr>
          <p:cNvPr id="6" name="Номер слайда 5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B3421C82-DCE2-4357-9FC9-39D15C9B1AE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 hidden="0"/>
          <p:cNvSpPr>
            <a:spLocks noGrp="1"/>
          </p:cNvSpPr>
          <p:nvPr isPhoto="0" userDrawn="0">
            <p:ph sz="half" idx="1" hasCustomPrompt="0"/>
          </p:nvPr>
        </p:nvSpPr>
        <p:spPr bwMode="auto">
          <a:xfrm>
            <a:off x="6286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 hidden="0"/>
          <p:cNvSpPr>
            <a:spLocks noGrp="1"/>
          </p:cNvSpPr>
          <p:nvPr isPhoto="0" userDrawn="0">
            <p:ph sz="half" idx="2" hasCustomPrompt="0"/>
          </p:nvPr>
        </p:nvSpPr>
        <p:spPr bwMode="auto">
          <a:xfrm>
            <a:off x="46291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44E36097-F7B7-4C5A-B8AF-0ACEE2CDB282}" type="datetime1">
              <a:rPr lang="ru-RU"/>
              <a:t/>
            </a:fld>
            <a:endParaRPr lang="ru-RU"/>
          </a:p>
        </p:txBody>
      </p:sp>
      <p:sp>
        <p:nvSpPr>
          <p:cNvPr id="6" name="Нижний колонтитул 5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5</a:t>
            </a:r>
            <a:endParaRPr lang="ru-RU"/>
          </a:p>
        </p:txBody>
      </p:sp>
      <p:sp>
        <p:nvSpPr>
          <p:cNvPr id="7" name="Номер слайда 6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B3421C82-DCE2-4357-9FC9-39D15C9B1AE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629841" y="365126"/>
            <a:ext cx="78867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 hidden="0"/>
          <p:cNvSpPr>
            <a:spLocks noGrp="1"/>
          </p:cNvSpPr>
          <p:nvPr isPhoto="0" userDrawn="0">
            <p:ph type="body" idx="1" hasCustomPrompt="0"/>
          </p:nvPr>
        </p:nvSpPr>
        <p:spPr bwMode="auto"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 hidden="0"/>
          <p:cNvSpPr>
            <a:spLocks noGrp="1"/>
          </p:cNvSpPr>
          <p:nvPr isPhoto="0" userDrawn="0">
            <p:ph sz="half" idx="2" hasCustomPrompt="0"/>
          </p:nvPr>
        </p:nvSpPr>
        <p:spPr bwMode="auto">
          <a:xfrm>
            <a:off x="629842" y="2505074"/>
            <a:ext cx="3868340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 hidden="0"/>
          <p:cNvSpPr>
            <a:spLocks noGrp="1"/>
          </p:cNvSpPr>
          <p:nvPr isPhoto="0" userDrawn="0">
            <p:ph type="body" sz="quarter" idx="3" hasCustomPrompt="0"/>
          </p:nvPr>
        </p:nvSpPr>
        <p:spPr bwMode="auto"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 hidden="0"/>
          <p:cNvSpPr>
            <a:spLocks noGrp="1"/>
          </p:cNvSpPr>
          <p:nvPr isPhoto="0" userDrawn="0">
            <p:ph sz="quarter" idx="4" hasCustomPrompt="0"/>
          </p:nvPr>
        </p:nvSpPr>
        <p:spPr bwMode="auto">
          <a:xfrm>
            <a:off x="4629150" y="2505074"/>
            <a:ext cx="3887391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908CD706-DFC6-4E24-B61E-52742BB87C6D}" type="datetime1">
              <a:rPr lang="ru-RU"/>
              <a:t/>
            </a:fld>
            <a:endParaRPr lang="ru-RU"/>
          </a:p>
        </p:txBody>
      </p:sp>
      <p:sp>
        <p:nvSpPr>
          <p:cNvPr id="8" name="Нижний колонтитул 7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5</a:t>
            </a:r>
            <a:endParaRPr lang="ru-RU"/>
          </a:p>
        </p:txBody>
      </p:sp>
      <p:sp>
        <p:nvSpPr>
          <p:cNvPr id="9" name="Номер слайда 8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B3421C82-DCE2-4357-9FC9-39D15C9B1AE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09B47839-1DBD-4B13-B51E-00B3D50777E9}" type="datetime1">
              <a:rPr lang="ru-RU"/>
              <a:t/>
            </a:fld>
            <a:endParaRPr lang="ru-RU"/>
          </a:p>
        </p:txBody>
      </p:sp>
      <p:sp>
        <p:nvSpPr>
          <p:cNvPr id="4" name="Нижний колонтитул 3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5</a:t>
            </a:r>
            <a:endParaRPr lang="ru-RU"/>
          </a:p>
        </p:txBody>
      </p:sp>
      <p:sp>
        <p:nvSpPr>
          <p:cNvPr id="5" name="Номер слайда 4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B3421C82-DCE2-4357-9FC9-39D15C9B1AE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16614CCE-3796-4260-B6F8-8722F6B2EBA2}" type="datetime1">
              <a:rPr lang="ru-RU"/>
              <a:t/>
            </a:fld>
            <a:endParaRPr lang="ru-RU"/>
          </a:p>
        </p:txBody>
      </p:sp>
      <p:sp>
        <p:nvSpPr>
          <p:cNvPr id="3" name="Нижний колонтитул 2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5</a:t>
            </a:r>
            <a:endParaRPr lang="ru-RU"/>
          </a:p>
        </p:txBody>
      </p:sp>
      <p:sp>
        <p:nvSpPr>
          <p:cNvPr id="4" name="Номер слайда 3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B3421C82-DCE2-4357-9FC9-39D15C9B1AE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 hidden="0"/>
          <p:cNvSpPr>
            <a:spLocks noGrp="1"/>
          </p:cNvSpPr>
          <p:nvPr isPhoto="0" userDrawn="0">
            <p:ph type="body" sz="half" idx="2" hasCustomPrompt="0"/>
          </p:nvPr>
        </p:nvSpPr>
        <p:spPr bwMode="auto"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5FE89BF2-885D-40D7-B1CB-D4C4333A464E}" type="datetime1">
              <a:rPr lang="ru-RU"/>
              <a:t/>
            </a:fld>
            <a:endParaRPr lang="ru-RU"/>
          </a:p>
        </p:txBody>
      </p:sp>
      <p:sp>
        <p:nvSpPr>
          <p:cNvPr id="6" name="Нижний колонтитул 5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5</a:t>
            </a:r>
            <a:endParaRPr lang="ru-RU"/>
          </a:p>
        </p:txBody>
      </p:sp>
      <p:sp>
        <p:nvSpPr>
          <p:cNvPr id="7" name="Номер слайда 6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B3421C82-DCE2-4357-9FC9-39D15C9B1AE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 hidden="0"/>
          <p:cNvSpPr>
            <a:spLocks noGrp="1"/>
          </p:cNvSpPr>
          <p:nvPr isPhoto="0" userDrawn="0">
            <p:ph type="pic" idx="1" hasCustomPrompt="0"/>
          </p:nvPr>
        </p:nvSpPr>
        <p:spPr bwMode="auto"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 hidden="0"/>
          <p:cNvSpPr>
            <a:spLocks noGrp="1"/>
          </p:cNvSpPr>
          <p:nvPr isPhoto="0" userDrawn="0">
            <p:ph type="body" sz="half" idx="2" hasCustomPrompt="0"/>
          </p:nvPr>
        </p:nvSpPr>
        <p:spPr bwMode="auto"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4716D1E4-52CE-44AB-8AA0-580E3B381AAD}" type="datetime1">
              <a:rPr lang="ru-RU"/>
              <a:t/>
            </a:fld>
            <a:endParaRPr lang="ru-RU"/>
          </a:p>
        </p:txBody>
      </p:sp>
      <p:sp>
        <p:nvSpPr>
          <p:cNvPr id="6" name="Нижний колонтитул 5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5</a:t>
            </a:r>
            <a:endParaRPr lang="ru-RU"/>
          </a:p>
        </p:txBody>
      </p:sp>
      <p:sp>
        <p:nvSpPr>
          <p:cNvPr id="7" name="Номер слайда 6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B3421C82-DCE2-4357-9FC9-39D15C9B1AE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 hidden="0"/>
          <p:cNvSpPr>
            <a:spLocks noGrp="1"/>
          </p:cNvSpPr>
          <p:nvPr isPhoto="0" userDrawn="0">
            <p:ph type="body" orient="vert" idx="1" hasCustomPrompt="0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9D6FA392-4DA1-4104-82C5-8E6CDED07816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5</a:t>
            </a:r>
            <a:endParaRPr lang="ru-RU"/>
          </a:p>
        </p:txBody>
      </p:sp>
      <p:sp>
        <p:nvSpPr>
          <p:cNvPr id="6" name="Номер слайда 5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B3421C82-DCE2-4357-9FC9-39D15C9B1AE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 hidden="0"/>
          <p:cNvSpPr>
            <a:spLocks noGrp="1"/>
          </p:cNvSpPr>
          <p:nvPr isPhoto="0" userDrawn="0">
            <p:ph type="title" orient="vert" hasCustomPrompt="0"/>
          </p:nvPr>
        </p:nvSpPr>
        <p:spPr bwMode="auto">
          <a:xfrm>
            <a:off x="6543675" y="365125"/>
            <a:ext cx="1971675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 hidden="0"/>
          <p:cNvSpPr>
            <a:spLocks noGrp="1"/>
          </p:cNvSpPr>
          <p:nvPr isPhoto="0" userDrawn="0">
            <p:ph type="body" orient="vert" idx="1" hasCustomPrompt="0"/>
          </p:nvPr>
        </p:nvSpPr>
        <p:spPr bwMode="auto"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68E87445-A20D-438E-BA49-F1398D662787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5</a:t>
            </a:r>
            <a:endParaRPr lang="ru-RU"/>
          </a:p>
        </p:txBody>
      </p:sp>
      <p:sp>
        <p:nvSpPr>
          <p:cNvPr id="6" name="Номер слайда 5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B3421C82-DCE2-4357-9FC9-39D15C9B1AE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 hidden="0"/>
          <p:cNvSpPr>
            <a:spLocks noGrp="1"/>
          </p:cNvSpPr>
          <p:nvPr isPhoto="0" userDrawn="0">
            <p:ph type="body" idx="1" hasCustomPrompt="0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 hidden="0"/>
          <p:cNvSpPr>
            <a:spLocks noGrp="1"/>
          </p:cNvSpPr>
          <p:nvPr isPhoto="0" userDrawn="0">
            <p:ph type="dt" sz="half" idx="2" hasCustomPrompt="0"/>
          </p:nvPr>
        </p:nvSpPr>
        <p:spPr bwMode="auto"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4B30694-6CF7-474E-9B67-493F8E2B883B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 hidden="0"/>
          <p:cNvSpPr>
            <a:spLocks noGrp="1"/>
          </p:cNvSpPr>
          <p:nvPr isPhoto="0" userDrawn="0">
            <p:ph type="ftr" sz="quarter" idx="3" hasCustomPrompt="0"/>
          </p:nvPr>
        </p:nvSpPr>
        <p:spPr bwMode="auto"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5</a:t>
            </a:r>
            <a:endParaRPr lang="ru-RU"/>
          </a:p>
        </p:txBody>
      </p:sp>
      <p:sp>
        <p:nvSpPr>
          <p:cNvPr id="6" name="Номер слайда 5" hidden="0"/>
          <p:cNvSpPr>
            <a:spLocks noGrp="1"/>
          </p:cNvSpPr>
          <p:nvPr isPhoto="0" userDrawn="0">
            <p:ph type="sldNum" sz="quarter" idx="4" hasCustomPrompt="0"/>
          </p:nvPr>
        </p:nvSpPr>
        <p:spPr bwMode="auto"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3421C82-DCE2-4357-9FC9-39D15C9B1AE5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1" hdr="0" sldNum="1"/>
  <p:txStyles>
    <p:titleStyle>
      <a:lvl1pPr algn="l" defTabSz="685800">
        <a:lnSpc>
          <a:spcPct val="90000"/>
        </a:lnSpc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>
        <a:lnSpc>
          <a:spcPct val="90000"/>
        </a:lnSpc>
        <a:spcBef>
          <a:spcPts val="750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0"/>
          <p:cNvSpPr>
            <a:spLocks noGrp="1"/>
          </p:cNvSpPr>
          <p:nvPr isPhoto="0" userDrawn="0">
            <p:ph type="ctrTitle" hasCustomPrompt="0"/>
          </p:nvPr>
        </p:nvSpPr>
        <p:spPr bwMode="auto">
          <a:xfrm>
            <a:off x="683568" y="116632"/>
            <a:ext cx="7772400" cy="333980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3200" b="1">
                <a:latin typeface="Times New Roman"/>
                <a:cs typeface="Times New Roman"/>
              </a:rPr>
              <a:t>Строение и подбор </a:t>
            </a:r>
            <a:r>
              <a:rPr lang="ru-RU" sz="3200" b="1">
                <a:latin typeface="Times New Roman"/>
                <a:cs typeface="Times New Roman"/>
              </a:rPr>
              <a:t>комплектующих для компьютеров </a:t>
            </a:r>
            <a:r>
              <a:rPr lang="ru-RU" sz="3200" b="1">
                <a:latin typeface="Times New Roman"/>
                <a:cs typeface="Times New Roman"/>
              </a:rPr>
              <a:t>с различными областями применения</a:t>
            </a:r>
            <a:br>
              <a:rPr lang="ru-RU" sz="3200"/>
            </a:br>
            <a:br>
              <a:rPr lang="ru-RU" sz="3200">
                <a:latin typeface="Times New Roman"/>
                <a:cs typeface="Times New Roman"/>
              </a:rPr>
            </a:br>
            <a:endParaRPr lang="ru-RU" sz="3200">
              <a:latin typeface="Times New Roman"/>
              <a:cs typeface="Times New Roman"/>
            </a:endParaRPr>
          </a:p>
        </p:txBody>
      </p:sp>
      <p:sp>
        <p:nvSpPr>
          <p:cNvPr id="3" name="Подзаголовок 2" hidden="0"/>
          <p:cNvSpPr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2471996" y="2996952"/>
            <a:ext cx="6400800" cy="1752599"/>
          </a:xfrm>
        </p:spPr>
        <p:txBody>
          <a:bodyPr>
            <a:noAutofit/>
          </a:bodyPr>
          <a:lstStyle/>
          <a:p>
            <a:pPr algn="r">
              <a:defRPr/>
            </a:pPr>
            <a:r>
              <a:rPr lang="ru-RU" sz="2000" b="1">
                <a:solidFill>
                  <a:schemeClr val="tx1"/>
                </a:solidFill>
                <a:latin typeface="Times New Roman"/>
                <a:cs typeface="Times New Roman"/>
              </a:rPr>
              <a:t>Автор:</a:t>
            </a:r>
            <a:r>
              <a:rPr lang="ru-RU" sz="200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endParaRPr/>
          </a:p>
          <a:p>
            <a:pPr algn="r">
              <a:defRPr/>
            </a:pPr>
            <a:r>
              <a:rPr lang="ru-RU" sz="2000">
                <a:latin typeface="Times New Roman"/>
                <a:cs typeface="Times New Roman"/>
              </a:rPr>
              <a:t>Алимов Мансур Альберт </a:t>
            </a:r>
            <a:r>
              <a:rPr lang="ru-RU" sz="2000">
                <a:latin typeface="Times New Roman"/>
                <a:cs typeface="Times New Roman"/>
              </a:rPr>
              <a:t>Оглы</a:t>
            </a:r>
            <a:r>
              <a:rPr lang="ru-RU" sz="2000">
                <a:solidFill>
                  <a:schemeClr val="tx1"/>
                </a:solidFill>
                <a:latin typeface="Times New Roman"/>
                <a:cs typeface="Times New Roman"/>
              </a:rPr>
              <a:t>,</a:t>
            </a:r>
            <a:endParaRPr lang="ru-RU" sz="20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r">
              <a:defRPr/>
            </a:pPr>
            <a:r>
              <a:rPr lang="ru-RU" sz="2000">
                <a:solidFill>
                  <a:schemeClr val="tx1"/>
                </a:solidFill>
                <a:latin typeface="Times New Roman"/>
                <a:cs typeface="Times New Roman"/>
              </a:rPr>
              <a:t>ученик 10 «Б» класса</a:t>
            </a:r>
            <a:endParaRPr/>
          </a:p>
          <a:p>
            <a:pPr algn="r">
              <a:defRPr/>
            </a:pPr>
            <a:r>
              <a:rPr lang="ru-RU" sz="2000">
                <a:solidFill>
                  <a:schemeClr val="tx1"/>
                </a:solidFill>
                <a:latin typeface="Times New Roman"/>
                <a:cs typeface="Times New Roman"/>
              </a:rPr>
              <a:t>Муниципальное автономное общеобразовательное</a:t>
            </a:r>
            <a:endParaRPr/>
          </a:p>
          <a:p>
            <a:pPr algn="r">
              <a:defRPr/>
            </a:pPr>
            <a:r>
              <a:rPr lang="ru-RU" sz="2000">
                <a:solidFill>
                  <a:schemeClr val="tx1"/>
                </a:solidFill>
                <a:latin typeface="Times New Roman"/>
                <a:cs typeface="Times New Roman"/>
              </a:rPr>
              <a:t>учреждение средняя общеобразовательная</a:t>
            </a:r>
            <a:endParaRPr/>
          </a:p>
          <a:p>
            <a:pPr algn="r">
              <a:defRPr/>
            </a:pPr>
            <a:r>
              <a:rPr lang="ru-RU" sz="2000">
                <a:solidFill>
                  <a:schemeClr val="tx1"/>
                </a:solidFill>
                <a:latin typeface="Times New Roman"/>
                <a:cs typeface="Times New Roman"/>
              </a:rPr>
              <a:t>школа№ 17 города Тюмени, Россия</a:t>
            </a:r>
            <a:endParaRPr/>
          </a:p>
        </p:txBody>
      </p:sp>
      <p:sp>
        <p:nvSpPr>
          <p:cNvPr id="1025" name="Rectangle 1" hidden="0"/>
          <p:cNvSpPr>
            <a:spLocks noChangeArrowheads="1"/>
          </p:cNvSpPr>
          <p:nvPr isPhoto="0" userDrawn="0"/>
        </p:nvSpPr>
        <p:spPr bwMode="auto">
          <a:xfrm>
            <a:off x="4072508" y="5085184"/>
            <a:ext cx="480028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000" b="1" i="0" u="none" strike="noStrike" cap="none">
                <a:ln>
                  <a:noFill/>
                </a:ln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Руководитель:</a:t>
            </a:r>
            <a:endParaRPr lang="ru-RU" sz="2000" b="0" i="0" u="none" strike="noStrike" cap="none">
              <a:ln>
                <a:noFill/>
              </a:ln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000">
                <a:latin typeface="Times New Roman"/>
                <a:ea typeface="Times New Roman"/>
                <a:cs typeface="Times New Roman"/>
              </a:rPr>
              <a:t>Сикорский Роман Юрьевич</a:t>
            </a:r>
            <a:r>
              <a:rPr lang="ru-RU" sz="2000" b="0" i="0" u="none" strike="noStrike" cap="none">
                <a:ln>
                  <a:noFill/>
                </a:ln>
                <a:latin typeface="Times New Roman"/>
                <a:ea typeface="Times New Roman"/>
                <a:cs typeface="Times New Roman"/>
              </a:rPr>
              <a:t>,</a:t>
            </a:r>
            <a:endParaRPr lang="ru-RU" sz="2000" b="0" i="0" u="none" strike="noStrike" cap="none">
              <a:ln>
                <a:noFill/>
              </a:ln>
              <a:latin typeface="Times New Roman"/>
              <a:cs typeface="Times New Roman"/>
            </a:endParaRPr>
          </a:p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000" b="0" i="0" u="none" strike="noStrike" cap="none">
                <a:ln>
                  <a:noFill/>
                </a:ln>
                <a:latin typeface="Times New Roman"/>
                <a:ea typeface="Times New Roman"/>
                <a:cs typeface="Times New Roman"/>
              </a:rPr>
              <a:t>учитель </a:t>
            </a:r>
            <a:r>
              <a:rPr lang="ru-RU" sz="2000">
                <a:latin typeface="Times New Roman"/>
                <a:ea typeface="Times New Roman"/>
                <a:cs typeface="Times New Roman"/>
              </a:rPr>
              <a:t>информатики</a:t>
            </a:r>
            <a:r>
              <a:rPr lang="ru-RU" sz="2000" b="0" i="0" u="none" strike="noStrike" cap="none">
                <a:ln>
                  <a:noFill/>
                </a:ln>
                <a:latin typeface="Times New Roman"/>
                <a:ea typeface="Times New Roman"/>
                <a:cs typeface="Times New Roman"/>
              </a:rPr>
              <a:t>,</a:t>
            </a:r>
            <a:endParaRPr lang="ru-RU" sz="2000" b="0" i="0" u="none" strike="noStrike" cap="none">
              <a:ln>
                <a:noFill/>
              </a:ln>
              <a:latin typeface="Times New Roman"/>
              <a:cs typeface="Times New Roman"/>
            </a:endParaRPr>
          </a:p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000" b="0" i="0" u="none" strike="noStrike" cap="none">
                <a:ln>
                  <a:noFill/>
                </a:ln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МАОУ СОШ №17 города Тюмени, Россия</a:t>
            </a:r>
            <a:endParaRPr lang="ru-RU" sz="2000" b="0" i="0" u="none" strike="noStrike" cap="none">
              <a:ln>
                <a:noFill/>
              </a:ln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97" name="Rectangle 1" hidden="0"/>
          <p:cNvSpPr>
            <a:spLocks noChangeArrowheads="1"/>
          </p:cNvSpPr>
          <p:nvPr isPhoto="0" userDrawn="0"/>
        </p:nvSpPr>
        <p:spPr bwMode="auto">
          <a:xfrm>
            <a:off x="251520" y="424408"/>
            <a:ext cx="8640960" cy="101566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/>
            <a:spAutoFit/>
          </a:bodyPr>
          <a:lstStyle/>
          <a:p>
            <a:pPr lvl="0" indent="449263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>
                <a:latin typeface="Times New Roman"/>
                <a:cs typeface="Times New Roman"/>
              </a:rPr>
              <a:t>Тема </a:t>
            </a:r>
            <a:r>
              <a:rPr lang="ru-RU" sz="2000">
                <a:latin typeface="Times New Roman"/>
                <a:cs typeface="Times New Roman"/>
              </a:rPr>
              <a:t>остается </a:t>
            </a:r>
            <a:r>
              <a:rPr lang="ru-RU" sz="2000" b="1">
                <a:latin typeface="Times New Roman"/>
                <a:cs typeface="Times New Roman"/>
              </a:rPr>
              <a:t>актуальной</a:t>
            </a:r>
            <a:r>
              <a:rPr lang="ru-RU" sz="2000">
                <a:latin typeface="Times New Roman"/>
                <a:cs typeface="Times New Roman"/>
              </a:rPr>
              <a:t> из-за технологической сложности, экономических факторов и растущего спроса на персонализацию. Грамотный подбор комплектующих экономит деньги и повышает производительность</a:t>
            </a:r>
            <a:r>
              <a:rPr lang="ru-RU" sz="2000">
                <a:latin typeface="Times New Roman"/>
                <a:cs typeface="Times New Roman"/>
              </a:rPr>
              <a:t>.</a:t>
            </a:r>
            <a:endParaRPr lang="ru-RU" sz="2000" i="0" u="none" strike="noStrike" cap="none">
              <a:ln>
                <a:noFill/>
              </a:ln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Прямоугольник 5" hidden="0"/>
          <p:cNvSpPr/>
          <p:nvPr isPhoto="0" userDrawn="0"/>
        </p:nvSpPr>
        <p:spPr bwMode="auto">
          <a:xfrm>
            <a:off x="251520" y="1772816"/>
            <a:ext cx="86409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000" b="1">
                <a:latin typeface="Times New Roman"/>
                <a:cs typeface="Times New Roman"/>
              </a:rPr>
              <a:t>       Цель </a:t>
            </a:r>
            <a:r>
              <a:rPr lang="ru-RU" sz="2000" b="1">
                <a:latin typeface="Times New Roman"/>
                <a:cs typeface="Times New Roman"/>
              </a:rPr>
              <a:t>исследования</a:t>
            </a:r>
            <a:r>
              <a:rPr lang="ru-RU" sz="2000">
                <a:latin typeface="Times New Roman"/>
                <a:cs typeface="Times New Roman"/>
              </a:rPr>
              <a:t>: </a:t>
            </a:r>
            <a:r>
              <a:rPr lang="ru-RU" sz="2000">
                <a:latin typeface="Times New Roman"/>
                <a:cs typeface="Times New Roman"/>
              </a:rPr>
              <a:t>систематизировать принципы строения персональных компьютеров и разработать стратегию подбора комплектующих, оптимизированную под конкретные задачи</a:t>
            </a:r>
            <a:r>
              <a:rPr lang="en-US" sz="2000">
                <a:latin typeface="Times New Roman"/>
                <a:cs typeface="Times New Roman"/>
              </a:rPr>
              <a:t> </a:t>
            </a:r>
            <a:endParaRPr lang="ru-RU" sz="2000">
              <a:latin typeface="Times New Roman"/>
              <a:cs typeface="Times New Roman"/>
            </a:endParaRPr>
          </a:p>
        </p:txBody>
      </p:sp>
      <p:sp>
        <p:nvSpPr>
          <p:cNvPr id="7" name="Прямоугольник 6" hidden="0"/>
          <p:cNvSpPr/>
          <p:nvPr isPhoto="0" userDrawn="0"/>
        </p:nvSpPr>
        <p:spPr bwMode="auto">
          <a:xfrm>
            <a:off x="251518" y="3429000"/>
            <a:ext cx="8645422" cy="1310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000" b="1">
                <a:latin typeface="Times New Roman"/>
                <a:cs typeface="Times New Roman"/>
              </a:rPr>
              <a:t>      </a:t>
            </a:r>
            <a:r>
              <a:rPr lang="ru-RU" sz="2000" b="1">
                <a:latin typeface="Times New Roman"/>
                <a:cs typeface="Times New Roman"/>
              </a:rPr>
              <a:t>Задачи</a:t>
            </a:r>
            <a:r>
              <a:rPr lang="ru-RU" sz="2000">
                <a:latin typeface="Times New Roman"/>
                <a:cs typeface="Times New Roman"/>
              </a:rPr>
              <a:t>: </a:t>
            </a:r>
            <a:endParaRPr/>
          </a:p>
          <a:p>
            <a:pPr>
              <a:defRPr/>
            </a:pPr>
            <a:r>
              <a:rPr lang="ru-RU" sz="2000">
                <a:latin typeface="Times New Roman"/>
                <a:cs typeface="Times New Roman"/>
              </a:rPr>
              <a:t>1. </a:t>
            </a:r>
            <a:r>
              <a:rPr lang="ru-RU" sz="2000">
                <a:latin typeface="Times New Roman"/>
                <a:cs typeface="Times New Roman"/>
              </a:rPr>
              <a:t>Анализ архитектуры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ru-RU" sz="2000">
                <a:latin typeface="Times New Roman"/>
                <a:cs typeface="Times New Roman"/>
              </a:rPr>
              <a:t>компьютреа</a:t>
            </a:r>
            <a:r>
              <a:rPr lang="ru-RU" sz="2000">
                <a:latin typeface="Times New Roman"/>
                <a:cs typeface="Times New Roman"/>
              </a:rPr>
              <a:t>.</a:t>
            </a:r>
            <a:endParaRPr lang="ru-RU" sz="2000">
              <a:latin typeface="Times New Roman"/>
              <a:cs typeface="Times New Roman"/>
            </a:endParaRPr>
          </a:p>
          <a:p>
            <a:pPr lvl="0">
              <a:defRPr/>
            </a:pPr>
            <a:r>
              <a:rPr lang="ru-RU" sz="2000">
                <a:latin typeface="Times New Roman"/>
                <a:cs typeface="Times New Roman"/>
              </a:rPr>
              <a:t>2. </a:t>
            </a:r>
            <a:r>
              <a:rPr lang="ru-RU" sz="2000">
                <a:latin typeface="Times New Roman"/>
                <a:cs typeface="Times New Roman"/>
              </a:rPr>
              <a:t>Бюджетирование компонентов.</a:t>
            </a:r>
            <a:endParaRPr lang="ru-RU" sz="2000">
              <a:latin typeface="Times New Roman"/>
              <a:cs typeface="Times New Roman"/>
            </a:endParaRPr>
          </a:p>
          <a:p>
            <a:pPr lvl="0">
              <a:defRPr/>
            </a:pPr>
            <a:r>
              <a:rPr lang="ru-RU" sz="2000">
                <a:latin typeface="Times New Roman"/>
                <a:cs typeface="Times New Roman"/>
              </a:rPr>
              <a:t>3. </a:t>
            </a:r>
            <a:r>
              <a:rPr lang="ru-RU" sz="2000">
                <a:latin typeface="Times New Roman"/>
                <a:cs typeface="Times New Roman"/>
              </a:rPr>
              <a:t>Проверка баланса системы.</a:t>
            </a:r>
            <a:endParaRPr lang="ru-RU"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>
          <a:xfrm>
            <a:off x="6588224" y="116632"/>
            <a:ext cx="2133600" cy="365125"/>
          </a:xfrm>
        </p:spPr>
        <p:txBody>
          <a:bodyPr/>
          <a:lstStyle/>
          <a:p>
            <a:pPr>
              <a:defRPr/>
            </a:pPr>
            <a:fld id="{B3421C82-DCE2-4357-9FC9-39D15C9B1AE5}" type="slidenum">
              <a:rPr lang="ru-RU" sz="2000">
                <a:latin typeface="Times New Roman"/>
                <a:cs typeface="Times New Roman"/>
              </a:rPr>
              <a:t/>
            </a:fld>
            <a:endParaRPr lang="ru-RU" sz="2000">
              <a:latin typeface="Times New Roman"/>
              <a:cs typeface="Times New Roman"/>
            </a:endParaRPr>
          </a:p>
        </p:txBody>
      </p:sp>
      <p:sp>
        <p:nvSpPr>
          <p:cNvPr id="6" name="Прямоугольник 5" hidden="0"/>
          <p:cNvSpPr/>
          <p:nvPr isPhoto="0" userDrawn="0"/>
        </p:nvSpPr>
        <p:spPr bwMode="auto">
          <a:xfrm>
            <a:off x="251518" y="2197818"/>
            <a:ext cx="8641426" cy="706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000" b="1">
                <a:latin typeface="Times New Roman"/>
                <a:cs typeface="Times New Roman"/>
              </a:rPr>
              <a:t>Предмет исследования</a:t>
            </a:r>
            <a:r>
              <a:rPr lang="ru-RU" sz="2000" b="1">
                <a:latin typeface="Times New Roman"/>
                <a:cs typeface="Times New Roman"/>
              </a:rPr>
              <a:t>:</a:t>
            </a:r>
            <a:r>
              <a:rPr lang="ru-RU" sz="2000"/>
              <a:t> </a:t>
            </a:r>
            <a:r>
              <a:rPr lang="ru-RU" sz="2000">
                <a:latin typeface="Times New Roman"/>
                <a:cs typeface="Times New Roman"/>
              </a:rPr>
              <a:t>Взаимосвязь между строением компьютера, подбором комплектующих и эффективностью в различных </a:t>
            </a:r>
            <a:r>
              <a:rPr lang="ru-RU" sz="2000">
                <a:latin typeface="Times New Roman"/>
                <a:cs typeface="Times New Roman"/>
              </a:rPr>
              <a:t>задачах</a:t>
            </a:r>
            <a:r>
              <a:rPr lang="en-US" sz="2000">
                <a:latin typeface="Times New Roman"/>
                <a:cs typeface="Times New Roman"/>
              </a:rPr>
              <a:t>.</a:t>
            </a:r>
            <a:endParaRPr lang="ru-RU" sz="2000">
              <a:latin typeface="Times New Roman"/>
              <a:cs typeface="Times New Roman"/>
            </a:endParaRPr>
          </a:p>
        </p:txBody>
      </p:sp>
      <p:sp>
        <p:nvSpPr>
          <p:cNvPr id="7" name="Прямоугольник 6" hidden="0"/>
          <p:cNvSpPr/>
          <p:nvPr isPhoto="0" userDrawn="0"/>
        </p:nvSpPr>
        <p:spPr bwMode="auto">
          <a:xfrm>
            <a:off x="304958" y="3349553"/>
            <a:ext cx="8641895" cy="7010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ru-RU" sz="2000" b="1">
                <a:latin typeface="Times New Roman"/>
                <a:cs typeface="Times New Roman"/>
              </a:rPr>
              <a:t>Методы</a:t>
            </a:r>
            <a:r>
              <a:rPr lang="ru-RU" sz="2000">
                <a:latin typeface="Times New Roman"/>
                <a:cs typeface="Times New Roman"/>
              </a:rPr>
              <a:t> </a:t>
            </a:r>
            <a:r>
              <a:rPr lang="ru-RU" sz="2000" b="1">
                <a:latin typeface="Times New Roman"/>
                <a:cs typeface="Times New Roman"/>
              </a:rPr>
              <a:t>исследования: </a:t>
            </a:r>
            <a:r>
              <a:rPr lang="ru-RU" sz="2000">
                <a:latin typeface="Times New Roman"/>
                <a:cs typeface="Times New Roman"/>
              </a:rPr>
              <a:t>Анализ </a:t>
            </a:r>
            <a:r>
              <a:rPr lang="ru-RU" sz="2000">
                <a:latin typeface="Times New Roman"/>
                <a:cs typeface="Times New Roman"/>
              </a:rPr>
              <a:t>технической </a:t>
            </a:r>
            <a:r>
              <a:rPr lang="ru-RU" sz="2000">
                <a:latin typeface="Times New Roman"/>
                <a:cs typeface="Times New Roman"/>
              </a:rPr>
              <a:t>документации ( ключевые источники), информации и обзоров</a:t>
            </a:r>
            <a:r>
              <a:rPr lang="ru-RU" sz="2000">
                <a:latin typeface="Times New Roman"/>
                <a:cs typeface="Times New Roman"/>
              </a:rPr>
              <a:t>.</a:t>
            </a:r>
            <a:endParaRPr lang="ru-RU" sz="2000">
              <a:latin typeface="Times New Roman"/>
              <a:cs typeface="Times New Roman"/>
            </a:endParaRPr>
          </a:p>
        </p:txBody>
      </p:sp>
      <p:sp>
        <p:nvSpPr>
          <p:cNvPr id="1062445819" name="" hidden="0"/>
          <p:cNvSpPr txBox="1"/>
          <p:nvPr isPhoto="0" userDrawn="0"/>
        </p:nvSpPr>
        <p:spPr bwMode="auto">
          <a:xfrm flipH="0" flipV="0">
            <a:off x="304959" y="1380326"/>
            <a:ext cx="8037683" cy="396275"/>
          </a:xfrm>
          <a:prstGeom prst="rect">
            <a:avLst/>
          </a:prstGeom>
          <a:noFill/>
        </p:spPr>
        <p:txBody>
          <a:bodyPr vertOverflow="overflow" horzOverflow="clip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20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Объект исследования: 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Персональные компьютеры и их 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компоненты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>
          <a:xfrm>
            <a:off x="6660232" y="78085"/>
            <a:ext cx="2057400" cy="365125"/>
          </a:xfrm>
        </p:spPr>
        <p:txBody>
          <a:bodyPr/>
          <a:lstStyle/>
          <a:p>
            <a:pPr>
              <a:defRPr/>
            </a:pPr>
            <a:fld id="{B3421C82-DCE2-4357-9FC9-39D15C9B1AE5}" type="slidenum">
              <a:rPr lang="ru-RU" sz="2000">
                <a:latin typeface="Times New Roman"/>
                <a:cs typeface="Times New Roman"/>
              </a:rPr>
              <a:t/>
            </a:fld>
            <a:endParaRPr lang="ru-RU" sz="2000">
              <a:latin typeface="Times New Roman"/>
              <a:cs typeface="Times New Roman"/>
            </a:endParaRPr>
          </a:p>
        </p:txBody>
      </p:sp>
      <p:sp>
        <p:nvSpPr>
          <p:cNvPr id="8" name="TextBox 7" hidden="0"/>
          <p:cNvSpPr txBox="1"/>
          <p:nvPr isPhoto="0" userDrawn="0"/>
        </p:nvSpPr>
        <p:spPr bwMode="auto">
          <a:xfrm>
            <a:off x="611558" y="3067840"/>
            <a:ext cx="74168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b="1">
                <a:latin typeface="Times New Roman"/>
                <a:cs typeface="Times New Roman"/>
              </a:rPr>
              <a:t>Важно</a:t>
            </a:r>
            <a:endParaRPr lang="ru-RU"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b="1">
                <a:latin typeface="Times New Roman"/>
                <a:cs typeface="Times New Roman"/>
              </a:rPr>
              <a:t>Не </a:t>
            </a:r>
            <a:r>
              <a:rPr lang="ru-RU" b="1">
                <a:latin typeface="Times New Roman"/>
                <a:cs typeface="Times New Roman"/>
              </a:rPr>
              <a:t>экономьте на БП</a:t>
            </a:r>
            <a:r>
              <a:rPr lang="ru-RU">
                <a:latin typeface="Times New Roman"/>
                <a:cs typeface="Times New Roman"/>
              </a:rPr>
              <a:t> – это основа стабильности.</a:t>
            </a:r>
            <a:br>
              <a:rPr lang="ru-RU">
                <a:latin typeface="Times New Roman"/>
                <a:cs typeface="Times New Roman"/>
              </a:rPr>
            </a:br>
            <a:r>
              <a:rPr lang="ru-RU" b="1">
                <a:latin typeface="Times New Roman"/>
                <a:cs typeface="Times New Roman"/>
              </a:rPr>
              <a:t>Проверяйте </a:t>
            </a:r>
            <a:r>
              <a:rPr lang="ru-RU" b="1">
                <a:latin typeface="Times New Roman"/>
                <a:cs typeface="Times New Roman"/>
              </a:rPr>
              <a:t>совместимость</a:t>
            </a:r>
            <a:r>
              <a:rPr lang="ru-RU">
                <a:latin typeface="Times New Roman"/>
                <a:cs typeface="Times New Roman"/>
              </a:rPr>
              <a:t> (особенно сокет CPU и размер </a:t>
            </a:r>
            <a:r>
              <a:rPr lang="ru-RU">
                <a:latin typeface="Times New Roman"/>
                <a:cs typeface="Times New Roman"/>
              </a:rPr>
              <a:t>корпуса</a:t>
            </a:r>
            <a:r>
              <a:rPr lang="ru-RU">
                <a:latin typeface="Times New Roman"/>
                <a:cs typeface="Times New Roman"/>
              </a:rPr>
              <a:t> </a:t>
            </a:r>
            <a:r>
              <a:rPr lang="ru-RU">
                <a:latin typeface="Times New Roman"/>
                <a:cs typeface="Times New Roman"/>
              </a:rPr>
              <a:t>).</a:t>
            </a:r>
            <a:br>
              <a:rPr lang="ru-RU">
                <a:latin typeface="Times New Roman"/>
                <a:cs typeface="Times New Roman"/>
              </a:rPr>
            </a:br>
            <a:r>
              <a:rPr lang="ru-RU" b="1">
                <a:latin typeface="Times New Roman"/>
                <a:cs typeface="Times New Roman"/>
              </a:rPr>
              <a:t>Встроенная </a:t>
            </a:r>
            <a:r>
              <a:rPr lang="ru-RU" b="1">
                <a:latin typeface="Times New Roman"/>
                <a:cs typeface="Times New Roman"/>
              </a:rPr>
              <a:t>графика</a:t>
            </a:r>
            <a:r>
              <a:rPr lang="ru-RU">
                <a:latin typeface="Times New Roman"/>
                <a:cs typeface="Times New Roman"/>
              </a:rPr>
              <a:t> (например, </a:t>
            </a:r>
            <a:r>
              <a:rPr lang="ru-RU">
                <a:latin typeface="Times New Roman"/>
                <a:cs typeface="Times New Roman"/>
              </a:rPr>
              <a:t>Intel</a:t>
            </a:r>
            <a:r>
              <a:rPr lang="ru-RU">
                <a:latin typeface="Times New Roman"/>
                <a:cs typeface="Times New Roman"/>
              </a:rPr>
              <a:t> UHD или AMD </a:t>
            </a:r>
            <a:r>
              <a:rPr lang="ru-RU">
                <a:latin typeface="Times New Roman"/>
                <a:cs typeface="Times New Roman"/>
              </a:rPr>
              <a:t>Vega</a:t>
            </a:r>
            <a:r>
              <a:rPr lang="ru-RU">
                <a:latin typeface="Times New Roman"/>
                <a:cs typeface="Times New Roman"/>
              </a:rPr>
              <a:t> ) </a:t>
            </a:r>
            <a:r>
              <a:rPr lang="ru-RU">
                <a:latin typeface="Times New Roman"/>
                <a:cs typeface="Times New Roman"/>
              </a:rPr>
              <a:t>сэкономит на видеокарте.</a:t>
            </a:r>
            <a:br>
              <a:rPr lang="ru-RU">
                <a:latin typeface="Times New Roman"/>
                <a:cs typeface="Times New Roman"/>
              </a:rPr>
            </a:br>
            <a:r>
              <a:rPr lang="ru-RU" b="1">
                <a:latin typeface="Times New Roman"/>
                <a:cs typeface="Times New Roman"/>
              </a:rPr>
              <a:t>Учитывайте </a:t>
            </a:r>
            <a:r>
              <a:rPr lang="ru-RU" b="1">
                <a:latin typeface="Times New Roman"/>
                <a:cs typeface="Times New Roman"/>
              </a:rPr>
              <a:t>шум</a:t>
            </a:r>
            <a:r>
              <a:rPr lang="ru-RU">
                <a:latin typeface="Times New Roman"/>
                <a:cs typeface="Times New Roman"/>
              </a:rPr>
              <a:t> – тихие кулеры и корпус с </a:t>
            </a:r>
            <a:r>
              <a:rPr lang="ru-RU">
                <a:latin typeface="Times New Roman"/>
                <a:cs typeface="Times New Roman"/>
              </a:rPr>
              <a:t>шумопоглощением</a:t>
            </a:r>
            <a:r>
              <a:rPr lang="ru-RU">
                <a:latin typeface="Times New Roman"/>
                <a:cs typeface="Times New Roman"/>
              </a:rPr>
              <a:t>.</a:t>
            </a:r>
            <a:endParaRPr lang="ru-RU">
              <a:latin typeface="Times New Roman"/>
              <a:cs typeface="Times New Roman"/>
            </a:endParaRPr>
          </a:p>
          <a:p>
            <a:pPr>
              <a:defRPr/>
            </a:pPr>
            <a:endParaRPr lang="ru-RU"/>
          </a:p>
        </p:txBody>
      </p:sp>
      <p:sp>
        <p:nvSpPr>
          <p:cNvPr id="9" name="TextBox 8" hidden="0"/>
          <p:cNvSpPr txBox="1"/>
          <p:nvPr isPhoto="0" userDrawn="0"/>
        </p:nvSpPr>
        <p:spPr bwMode="auto">
          <a:xfrm>
            <a:off x="2006902" y="674565"/>
            <a:ext cx="5546701" cy="975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2000" b="1">
                <a:latin typeface="Times New Roman"/>
                <a:cs typeface="Times New Roman"/>
              </a:rPr>
              <a:t>Чек-лист при покупке комплектующих для домашнего компьютера</a:t>
            </a:r>
            <a:endParaRPr lang="ru-RU" sz="2000">
              <a:latin typeface="Times New Roman"/>
              <a:cs typeface="Times New Roman"/>
            </a:endParaRPr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>
          <a:xfrm>
            <a:off x="6660232" y="116632"/>
            <a:ext cx="2057400" cy="365125"/>
          </a:xfrm>
        </p:spPr>
        <p:txBody>
          <a:bodyPr/>
          <a:lstStyle/>
          <a:p>
            <a:pPr>
              <a:defRPr/>
            </a:pPr>
            <a:fld id="{B3421C82-DCE2-4357-9FC9-39D15C9B1AE5}" type="slidenum">
              <a:rPr lang="ru-RU" sz="2000">
                <a:latin typeface="Times New Roman"/>
                <a:cs typeface="Times New Roman"/>
              </a:rPr>
              <a:t/>
            </a:fld>
            <a:endParaRPr lang="ru-RU" sz="2000">
              <a:latin typeface="Times New Roman"/>
              <a:cs typeface="Times New Roman"/>
            </a:endParaRPr>
          </a:p>
        </p:txBody>
      </p:sp>
      <p:sp>
        <p:nvSpPr>
          <p:cNvPr id="100724537" name="" hidden="0"/>
          <p:cNvSpPr txBox="1"/>
          <p:nvPr isPhoto="0" userDrawn="0"/>
        </p:nvSpPr>
        <p:spPr bwMode="auto">
          <a:xfrm flipH="0" flipV="0">
            <a:off x="870373" y="3015682"/>
            <a:ext cx="7716942" cy="2171735"/>
          </a:xfrm>
          <a:prstGeom prst="rect">
            <a:avLst/>
          </a:prstGeom>
          <a:noFill/>
        </p:spPr>
        <p:txBody>
          <a:bodyPr vertOverflow="overflow" horzOverflow="clip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18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Важно</a:t>
            </a:r>
            <a:endParaRPr sz="1800" b="1" i="0" u="none">
              <a:solidFill>
                <a:schemeClr val="tx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800" b="1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CPU + встроенная графика</a:t>
            </a:r>
            <a:r>
              <a:rPr sz="1800" b="0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(если не нужна видеокарта).</a:t>
            </a:r>
            <a:br>
              <a:rPr sz="1800" b="0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</a:br>
            <a:r>
              <a:rPr sz="1800" b="1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16 ГБ RAM</a:t>
            </a:r>
            <a:r>
              <a:rPr sz="1800" b="0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(если много вкладок в браузере).</a:t>
            </a:r>
            <a:br>
              <a:rPr sz="1800" b="0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</a:br>
            <a:r>
              <a:rPr sz="1800" b="1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SSD NVMe</a:t>
            </a:r>
            <a:r>
              <a:rPr sz="1800" b="0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(минимум 256 ГБ).</a:t>
            </a:r>
            <a:br>
              <a:rPr sz="1800" b="0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</a:br>
            <a:r>
              <a:rPr sz="1800" b="1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Надежный БП</a:t>
            </a:r>
            <a:r>
              <a:rPr sz="1800" b="0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(не ниже 80+ Bronze).</a:t>
            </a:r>
            <a:br>
              <a:rPr sz="1800" b="0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</a:br>
            <a:r>
              <a:rPr sz="1800" b="1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Удобная периферия</a:t>
            </a:r>
            <a:r>
              <a:rPr sz="1800" b="0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(монитор, клавиатура, мышь).</a:t>
            </a:r>
            <a:endParaRPr sz="1800" b="0" i="0" u="none">
              <a:solidFill>
                <a:schemeClr val="tx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br>
              <a:rPr sz="1050" b="0" i="0" u="none">
                <a:solidFill>
                  <a:srgbClr val="F8FAFF"/>
                </a:solidFill>
                <a:latin typeface="Times New Roman"/>
                <a:ea typeface="Times New Roman"/>
                <a:cs typeface="Times New Roman"/>
              </a:rPr>
            </a:br>
            <a:endParaRPr sz="1800" b="0" i="0" u="none">
              <a:solidFill>
                <a:schemeClr val="tx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44885588" name="" hidden="0"/>
          <p:cNvSpPr txBox="1"/>
          <p:nvPr isPhoto="0" userDrawn="0"/>
        </p:nvSpPr>
        <p:spPr bwMode="auto">
          <a:xfrm flipH="0" flipV="0">
            <a:off x="1680394" y="693963"/>
            <a:ext cx="6096970" cy="701075"/>
          </a:xfrm>
          <a:prstGeom prst="rect">
            <a:avLst/>
          </a:prstGeom>
          <a:noFill/>
        </p:spPr>
        <p:txBody>
          <a:bodyPr vertOverflow="overflow" horzOverflow="clip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20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Чек-лист при покупке комплектующих для </a:t>
            </a:r>
            <a:r>
              <a:rPr sz="2000" b="1">
                <a:latin typeface="Times New Roman"/>
                <a:ea typeface="Times New Roman"/>
                <a:cs typeface="Times New Roman"/>
              </a:rPr>
              <a:t>офисного компьютера</a:t>
            </a:r>
            <a:endParaRPr sz="2000" b="1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9553095" name="Номер слайда 1" hidden="0"/>
          <p:cNvSpPr>
            <a:spLocks noGrp="1"/>
          </p:cNvSpPr>
          <p:nvPr isPhoto="0" userDrawn="0"/>
        </p:nvSpPr>
        <p:spPr bwMode="auto">
          <a:xfrm>
            <a:off x="6660231" y="116631"/>
            <a:ext cx="2057400" cy="365124"/>
          </a:xfr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685800"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22D6129C-6ADF-D5AA-7F60-B2C3507177E7}" type="slidenum">
              <a:rPr lang="ru-RU" sz="2000">
                <a:latin typeface="Times New Roman"/>
                <a:cs typeface="Times New Roman"/>
              </a:rPr>
              <a:t/>
            </a:fld>
            <a:endParaRPr lang="ru-RU" sz="2000">
              <a:latin typeface="Times New Roman"/>
              <a:cs typeface="Times New Roman"/>
            </a:endParaRPr>
          </a:p>
        </p:txBody>
      </p:sp>
      <p:sp>
        <p:nvSpPr>
          <p:cNvPr id="1077344975" name="" hidden="0"/>
          <p:cNvSpPr txBox="1"/>
          <p:nvPr isPhoto="0" userDrawn="0"/>
        </p:nvSpPr>
        <p:spPr bwMode="auto">
          <a:xfrm flipH="0" flipV="0">
            <a:off x="1796559" y="3065007"/>
            <a:ext cx="5690701" cy="2011715"/>
          </a:xfrm>
          <a:prstGeom prst="rect">
            <a:avLst/>
          </a:prstGeom>
          <a:noFill/>
        </p:spPr>
        <p:txBody>
          <a:bodyPr vertOverflow="overflow" horzOverflow="clip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b="1">
                <a:latin typeface="Times New Roman"/>
                <a:ea typeface="Times New Roman"/>
                <a:cs typeface="Times New Roman"/>
              </a:rPr>
              <a:t>Важно</a:t>
            </a:r>
            <a:endParaRPr b="1">
              <a:latin typeface="Times New Roman"/>
              <a:ea typeface="Times New Roman"/>
              <a:cs typeface="Times New Roman"/>
            </a:endParaRPr>
          </a:p>
          <a:p>
            <a:pPr algn="l">
              <a:defRPr/>
            </a:pPr>
            <a:r>
              <a:rPr sz="1800" b="1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Совместимость CPU и GPU</a:t>
            </a:r>
            <a:r>
              <a:rPr sz="1800" b="0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(нет ли узких мест)</a:t>
            </a:r>
            <a:br>
              <a:rPr sz="1800" b="0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</a:br>
            <a:r>
              <a:rPr sz="1800" b="1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Охлаждение</a:t>
            </a:r>
            <a:r>
              <a:rPr sz="1800" b="0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(достаточно ли для разгона)</a:t>
            </a:r>
            <a:br>
              <a:rPr sz="1800" b="0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</a:br>
            <a:r>
              <a:rPr sz="1800" b="1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Размеры корпуса</a:t>
            </a:r>
            <a:r>
              <a:rPr sz="1800" b="0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(поместится ли видеокарта и кулер)</a:t>
            </a:r>
            <a:endParaRPr sz="1800" b="0">
              <a:solidFill>
                <a:schemeClr val="tx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</a:endParaRPr>
          </a:p>
          <a:p>
            <a:pPr algn="l">
              <a:defRPr/>
            </a:pPr>
            <a:r>
              <a:rPr sz="1800" b="1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Видеокарта</a:t>
            </a:r>
            <a:r>
              <a:rPr sz="1800" b="0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 - 40-50% бюджета</a:t>
            </a:r>
            <a:br>
              <a:rPr sz="1800" b="0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</a:br>
            <a:r>
              <a:rPr sz="1800" b="1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Процессор</a:t>
            </a:r>
            <a:r>
              <a:rPr sz="1800" b="0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 - 20-25% бюджета</a:t>
            </a:r>
            <a:br>
              <a:rPr sz="1800" b="0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</a:br>
            <a:r>
              <a:rPr sz="1800" b="0" i="0" u="none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Не экономить на блоке питания и охлаждении</a:t>
            </a:r>
            <a:endParaRPr sz="1800" b="0">
              <a:solidFill>
                <a:schemeClr val="tx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2297722" name="" hidden="0"/>
          <p:cNvSpPr txBox="1"/>
          <p:nvPr isPhoto="0" userDrawn="0"/>
        </p:nvSpPr>
        <p:spPr bwMode="auto">
          <a:xfrm flipH="0" flipV="0">
            <a:off x="3090214" y="966106"/>
            <a:ext cx="54428" cy="365795"/>
          </a:xfrm>
          <a:prstGeom prst="rect">
            <a:avLst/>
          </a:prstGeom>
          <a:noFill/>
        </p:spPr>
        <p:txBody>
          <a:bodyPr vertOverflow="overflow" horzOverflow="clip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297872054" name="" hidden="0"/>
          <p:cNvSpPr txBox="1"/>
          <p:nvPr isPhoto="0" userDrawn="0"/>
        </p:nvSpPr>
        <p:spPr bwMode="auto">
          <a:xfrm flipH="0" flipV="0">
            <a:off x="2151283" y="691784"/>
            <a:ext cx="5211713" cy="701075"/>
          </a:xfrm>
          <a:prstGeom prst="rect">
            <a:avLst/>
          </a:prstGeom>
          <a:noFill/>
        </p:spPr>
        <p:txBody>
          <a:bodyPr vertOverflow="overflow" horzOverflow="clip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20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Чек-лист при покупке комплектующих для</a:t>
            </a:r>
            <a:r>
              <a:rPr lang="ru-RU" sz="20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2000" b="1">
                <a:latin typeface="Times New Roman"/>
                <a:ea typeface="Times New Roman"/>
                <a:cs typeface="Times New Roman"/>
              </a:rPr>
              <a:t>игрового компьютера</a:t>
            </a:r>
            <a:endParaRPr sz="2000" b="1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>
          <a:xfrm>
            <a:off x="6588224" y="116632"/>
            <a:ext cx="2133600" cy="365125"/>
          </a:xfrm>
        </p:spPr>
        <p:txBody>
          <a:bodyPr/>
          <a:lstStyle/>
          <a:p>
            <a:pPr>
              <a:defRPr/>
            </a:pPr>
            <a:fld id="{B3421C82-DCE2-4357-9FC9-39D15C9B1AE5}" type="slidenum">
              <a:rPr lang="ru-RU" sz="2000">
                <a:latin typeface="Times New Roman"/>
                <a:cs typeface="Times New Roman"/>
              </a:rPr>
              <a:t/>
            </a:fld>
            <a:endParaRPr lang="ru-RU" sz="2000">
              <a:latin typeface="Times New Roman"/>
              <a:cs typeface="Times New Roman"/>
            </a:endParaRPr>
          </a:p>
        </p:txBody>
      </p:sp>
      <p:sp>
        <p:nvSpPr>
          <p:cNvPr id="5" name="Прямоугольник 4" hidden="0"/>
          <p:cNvSpPr/>
          <p:nvPr isPhoto="0" userDrawn="0"/>
        </p:nvSpPr>
        <p:spPr bwMode="auto">
          <a:xfrm>
            <a:off x="251519" y="1849981"/>
            <a:ext cx="8641355" cy="2438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sz="2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Современный рынок комплектующих предлагает решения для любых задач. Ключевой фактор успешной сборки - четкое понимание требований системы и грамотный баланс между производительностью, надежностью и стоимостью компонентов. Перед окончательным выбором рекомендуется изучить актуальные тесты производительности и отзывы о конкретных моделях оборудования.</a:t>
            </a:r>
            <a:endParaRPr sz="220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Прямоугольник 5" hidden="0"/>
          <p:cNvSpPr/>
          <p:nvPr isPhoto="0" userDrawn="0"/>
        </p:nvSpPr>
        <p:spPr bwMode="auto">
          <a:xfrm>
            <a:off x="3930327" y="188640"/>
            <a:ext cx="1283379" cy="4572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defRPr/>
            </a:pPr>
            <a:r>
              <a:rPr lang="ru-RU" sz="2400">
                <a:latin typeface="Times New Roman"/>
                <a:cs typeface="Times New Roman"/>
              </a:rPr>
              <a:t>ВЫВОД</a:t>
            </a:r>
            <a:endParaRPr lang="ru-RU"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>
          <a:xfrm>
            <a:off x="6588224" y="116632"/>
            <a:ext cx="2133600" cy="365125"/>
          </a:xfrm>
        </p:spPr>
        <p:txBody>
          <a:bodyPr/>
          <a:lstStyle/>
          <a:p>
            <a:pPr>
              <a:defRPr/>
            </a:pPr>
            <a:fld id="{B3421C82-DCE2-4357-9FC9-39D15C9B1AE5}" type="slidenum">
              <a:rPr lang="ru-RU" sz="2000">
                <a:latin typeface="Times New Roman"/>
                <a:cs typeface="Times New Roman"/>
              </a:rPr>
              <a:t/>
            </a:fld>
            <a:endParaRPr lang="ru-RU" sz="2000">
              <a:latin typeface="Times New Roman"/>
              <a:cs typeface="Times New Roman"/>
            </a:endParaRPr>
          </a:p>
        </p:txBody>
      </p:sp>
      <p:sp>
        <p:nvSpPr>
          <p:cNvPr id="3" name="Прямоугольник 2" hidden="0"/>
          <p:cNvSpPr/>
          <p:nvPr isPhoto="0" userDrawn="0"/>
        </p:nvSpPr>
        <p:spPr bwMode="auto">
          <a:xfrm>
            <a:off x="1979712" y="2060848"/>
            <a:ext cx="49677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3600">
                <a:latin typeface="Times New Roman"/>
                <a:cs typeface="Times New Roman"/>
              </a:rPr>
              <a:t>Благодарю за внимание!</a:t>
            </a:r>
            <a:endParaRPr lang="ru-RU" sz="3600">
              <a:latin typeface="Times New Roman"/>
              <a:cs typeface="Times New Roman"/>
            </a:endParaRPr>
          </a:p>
        </p:txBody>
      </p:sp>
      <p:sp>
        <p:nvSpPr>
          <p:cNvPr id="5" name="Подзаголовок 2" hidden="0"/>
          <p:cNvSpPr txBox="1"/>
          <p:nvPr isPhoto="0" userDrawn="0"/>
        </p:nvSpPr>
        <p:spPr bwMode="auto">
          <a:xfrm>
            <a:off x="2483768" y="3429000"/>
            <a:ext cx="6400800" cy="175259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sz="2400">
                <a:latin typeface="Times New Roman"/>
                <a:cs typeface="Times New Roman"/>
              </a:rPr>
              <a:t>Автор: Алимов Мансур Альберт </a:t>
            </a:r>
            <a:r>
              <a:rPr lang="ru-RU" sz="2400">
                <a:latin typeface="Times New Roman"/>
                <a:cs typeface="Times New Roman"/>
              </a:rPr>
              <a:t>Оглы</a:t>
            </a:r>
            <a:endParaRPr lang="ru-RU" sz="240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0" indent="0" algn="r">
              <a:buNone/>
              <a:defRPr/>
            </a:pPr>
            <a:r>
              <a:rPr lang="ru-RU" sz="2400">
                <a:latin typeface="Times New Roman"/>
                <a:cs typeface="Times New Roman"/>
              </a:rPr>
              <a:t>Россия, г. Тюмень, Тюменская область, </a:t>
            </a:r>
            <a:endParaRPr/>
          </a:p>
          <a:p>
            <a:pPr marL="0" indent="0" algn="r">
              <a:buNone/>
              <a:defRPr/>
            </a:pPr>
            <a:r>
              <a:rPr lang="ru-RU" sz="2400">
                <a:latin typeface="Times New Roman"/>
                <a:cs typeface="Times New Roman"/>
              </a:rPr>
              <a:t>МАОУ СОШ № </a:t>
            </a:r>
            <a:r>
              <a:rPr lang="ru-RU" sz="2400">
                <a:latin typeface="Times New Roman"/>
                <a:cs typeface="Times New Roman"/>
              </a:rPr>
              <a:t>17</a:t>
            </a:r>
            <a:r>
              <a:rPr lang="en-US" sz="2400">
                <a:latin typeface="Times New Roman"/>
                <a:cs typeface="Times New Roman"/>
              </a:rPr>
              <a:t>, 10</a:t>
            </a:r>
            <a:r>
              <a:rPr lang="ru-RU" sz="240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ru-RU" sz="2400">
                <a:latin typeface="Times New Roman"/>
                <a:cs typeface="Times New Roman"/>
              </a:rPr>
              <a:t>класс</a:t>
            </a:r>
            <a:endParaRPr/>
          </a:p>
          <a:p>
            <a:pPr>
              <a:defRPr/>
            </a:pPr>
            <a:endParaRPr lang="ru-RU"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ONLYOFFICE/7.1.0.215</Application>
  <DocSecurity>0</DocSecurity>
  <PresentationFormat>Экран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ВЛИЯНИЕ КИСЛОТНОСТИ ЖЕЛУДОЧНОГО СОКА НА РАСЩЕПЛЕНИЕ БЕЛКОВ ПЕПСИНАМИ В РАЗЛИЧНЫХ ПРОДУКТАХ ПИТАНИЯ</dc:title>
  <dc:subject/>
  <dc:creator>Admin</dc:creator>
  <cp:keywords/>
  <dc:description/>
  <dc:identifier/>
  <dc:language/>
  <cp:lastModifiedBy/>
  <cp:revision>49</cp:revision>
  <dcterms:created xsi:type="dcterms:W3CDTF">2020-04-02T16:21:40Z</dcterms:created>
  <dcterms:modified xsi:type="dcterms:W3CDTF">2025-05-12T02:27:21Z</dcterms:modified>
  <cp:category/>
  <cp:contentStatus/>
  <cp:version/>
</cp:coreProperties>
</file>